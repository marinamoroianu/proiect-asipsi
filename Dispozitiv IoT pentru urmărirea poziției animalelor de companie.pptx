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314" r:id="rId9"/>
    <p:sldId id="282" r:id="rId10"/>
    <p:sldId id="317" r:id="rId11"/>
    <p:sldId id="318" r:id="rId12"/>
    <p:sldId id="320" r:id="rId13"/>
    <p:sldId id="319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Dispozitiv</a:t>
            </a:r>
            <a:r>
              <a:rPr lang="en-US" dirty="0"/>
              <a:t> IoT pentru </a:t>
            </a:r>
            <a:r>
              <a:rPr lang="en-US" dirty="0" err="1"/>
              <a:t>urmărirea</a:t>
            </a:r>
            <a:r>
              <a:rPr lang="en-US" dirty="0"/>
              <a:t> </a:t>
            </a:r>
            <a:r>
              <a:rPr lang="en-US" dirty="0" err="1"/>
              <a:t>poziției</a:t>
            </a:r>
            <a:r>
              <a:rPr lang="en-US" dirty="0"/>
              <a:t> </a:t>
            </a:r>
            <a:r>
              <a:rPr lang="en-US" dirty="0" err="1"/>
              <a:t>animalelor</a:t>
            </a:r>
            <a:r>
              <a:rPr lang="en-US" dirty="0"/>
              <a:t> de </a:t>
            </a:r>
            <a:r>
              <a:rPr lang="en-US" dirty="0" err="1"/>
              <a:t>companie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793D0-56B8-D393-46AF-7B081FF72275}"/>
              </a:ext>
            </a:extLst>
          </p:cNvPr>
          <p:cNvSpPr txBox="1"/>
          <p:nvPr/>
        </p:nvSpPr>
        <p:spPr>
          <a:xfrm>
            <a:off x="157317" y="5934670"/>
            <a:ext cx="3087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Student: </a:t>
            </a:r>
            <a:r>
              <a:rPr lang="en-US" b="1" dirty="0" err="1">
                <a:solidFill>
                  <a:schemeClr val="bg1"/>
                </a:solidFill>
              </a:rPr>
              <a:t>Moroianu</a:t>
            </a:r>
            <a:r>
              <a:rPr lang="en-US" b="1" dirty="0">
                <a:solidFill>
                  <a:schemeClr val="bg1"/>
                </a:solidFill>
              </a:rPr>
              <a:t> Marina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Profesor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coordonator</a:t>
            </a:r>
            <a:r>
              <a:rPr lang="en-US" b="1" dirty="0">
                <a:solidFill>
                  <a:schemeClr val="bg1"/>
                </a:solidFill>
              </a:rPr>
              <a:t>: Asist. Dr. Ing. Boicu Mihaela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 err="1"/>
              <a:t>Cuprins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algn="just"/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lucrarii</a:t>
            </a:r>
            <a:endParaRPr lang="en-US" dirty="0"/>
          </a:p>
          <a:p>
            <a:pPr algn="just"/>
            <a:r>
              <a:rPr lang="en-US" dirty="0" err="1"/>
              <a:t>Motivatia</a:t>
            </a:r>
            <a:r>
              <a:rPr lang="en-US" dirty="0"/>
              <a:t> </a:t>
            </a:r>
            <a:r>
              <a:rPr lang="en-US" dirty="0" err="1"/>
              <a:t>alegerii</a:t>
            </a:r>
            <a:r>
              <a:rPr lang="en-US" dirty="0"/>
              <a:t> </a:t>
            </a:r>
            <a:r>
              <a:rPr lang="en-US" dirty="0" err="1"/>
              <a:t>temei</a:t>
            </a:r>
            <a:endParaRPr lang="en-US" dirty="0"/>
          </a:p>
          <a:p>
            <a:pPr algn="just"/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temei</a:t>
            </a:r>
            <a:endParaRPr lang="en-US" dirty="0"/>
          </a:p>
          <a:p>
            <a:pPr algn="just"/>
            <a:r>
              <a:rPr lang="en-US" dirty="0" err="1"/>
              <a:t>Concluzie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102" y="337768"/>
            <a:ext cx="6351639" cy="393292"/>
          </a:xfrm>
        </p:spPr>
        <p:txBody>
          <a:bodyPr/>
          <a:lstStyle/>
          <a:p>
            <a:r>
              <a:rPr lang="en-US" sz="2400" dirty="0"/>
              <a:t>SCOPUL LUCRARII</a:t>
            </a:r>
          </a:p>
        </p:txBody>
      </p:sp>
      <p:pic>
        <p:nvPicPr>
          <p:cNvPr id="8" name="Picture Placeholder 7" descr="A cat looking up to the side&#10;&#10;AI-generated content may be incorrect.">
            <a:extLst>
              <a:ext uri="{FF2B5EF4-FFF2-40B4-BE49-F238E27FC236}">
                <a16:creationId xmlns:a16="http://schemas.microsoft.com/office/drawing/2014/main" id="{0C441288-5E35-284D-8F68-3A37B7627F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839" r="15839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BC2248-B78F-D6B7-D1A4-D77D65302DC4}"/>
              </a:ext>
            </a:extLst>
          </p:cNvPr>
          <p:cNvSpPr txBox="1"/>
          <p:nvPr/>
        </p:nvSpPr>
        <p:spPr>
          <a:xfrm>
            <a:off x="4925961" y="855407"/>
            <a:ext cx="5220929" cy="557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 err="1">
                <a:solidFill>
                  <a:schemeClr val="accent6"/>
                </a:solidFill>
              </a:rPr>
              <a:t>Scopul</a:t>
            </a:r>
            <a:r>
              <a:rPr lang="en-US" sz="2400" b="1" i="1" dirty="0">
                <a:solidFill>
                  <a:schemeClr val="accent6"/>
                </a:solidFill>
              </a:rPr>
              <a:t> </a:t>
            </a:r>
            <a:r>
              <a:rPr lang="en-US" sz="2400" b="1" i="1" dirty="0" err="1">
                <a:solidFill>
                  <a:schemeClr val="accent6"/>
                </a:solidFill>
              </a:rPr>
              <a:t>lucrării</a:t>
            </a:r>
            <a:r>
              <a:rPr lang="en-US" sz="2400" b="1" i="1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este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proiectarea</a:t>
            </a:r>
            <a:r>
              <a:rPr lang="en-US" sz="2400" dirty="0">
                <a:solidFill>
                  <a:schemeClr val="accent6"/>
                </a:solidFill>
              </a:rPr>
              <a:t> unui </a:t>
            </a:r>
            <a:r>
              <a:rPr lang="en-US" sz="2400" dirty="0" err="1">
                <a:solidFill>
                  <a:schemeClr val="accent6"/>
                </a:solidFill>
              </a:rPr>
              <a:t>dispozitiv</a:t>
            </a:r>
            <a:r>
              <a:rPr lang="en-US" sz="2400" dirty="0">
                <a:solidFill>
                  <a:schemeClr val="accent6"/>
                </a:solidFill>
              </a:rPr>
              <a:t> IoT compact pentru </a:t>
            </a:r>
            <a:r>
              <a:rPr lang="en-US" sz="2400" dirty="0" err="1">
                <a:solidFill>
                  <a:schemeClr val="accent6"/>
                </a:solidFill>
              </a:rPr>
              <a:t>localizarea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în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timp</a:t>
            </a:r>
            <a:r>
              <a:rPr lang="en-US" sz="2400" dirty="0">
                <a:solidFill>
                  <a:schemeClr val="accent6"/>
                </a:solidFill>
              </a:rPr>
              <a:t> real a </a:t>
            </a:r>
            <a:r>
              <a:rPr lang="en-US" sz="2400" dirty="0" err="1">
                <a:solidFill>
                  <a:schemeClr val="accent6"/>
                </a:solidFill>
              </a:rPr>
              <a:t>animalelor</a:t>
            </a:r>
            <a:r>
              <a:rPr lang="en-US" sz="2400" dirty="0">
                <a:solidFill>
                  <a:schemeClr val="accent6"/>
                </a:solidFill>
              </a:rPr>
              <a:t> de </a:t>
            </a:r>
            <a:r>
              <a:rPr lang="en-US" sz="2400" dirty="0" err="1">
                <a:solidFill>
                  <a:schemeClr val="accent6"/>
                </a:solidFill>
              </a:rPr>
              <a:t>companie</a:t>
            </a:r>
            <a:r>
              <a:rPr lang="en-US" sz="2400" dirty="0">
                <a:solidFill>
                  <a:schemeClr val="accent6"/>
                </a:solidFill>
              </a:rPr>
              <a:t>, </a:t>
            </a:r>
            <a:r>
              <a:rPr lang="en-US" sz="2400" dirty="0" err="1">
                <a:solidFill>
                  <a:schemeClr val="accent6"/>
                </a:solidFill>
              </a:rPr>
              <a:t>prin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utilizarea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modulului</a:t>
            </a:r>
            <a:r>
              <a:rPr lang="en-US" sz="2400" dirty="0">
                <a:solidFill>
                  <a:schemeClr val="accent6"/>
                </a:solidFill>
              </a:rPr>
              <a:t> GPS </a:t>
            </a:r>
            <a:r>
              <a:rPr lang="en-US" sz="2400" dirty="0" err="1">
                <a:solidFill>
                  <a:schemeClr val="accent6"/>
                </a:solidFill>
              </a:rPr>
              <a:t>și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transmiterea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poziției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prin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rețea</a:t>
            </a:r>
            <a:r>
              <a:rPr lang="en-US" sz="2400" dirty="0">
                <a:solidFill>
                  <a:schemeClr val="accent6"/>
                </a:solidFill>
              </a:rPr>
              <a:t> wireless. </a:t>
            </a:r>
            <a:r>
              <a:rPr lang="en-US" sz="2400" dirty="0" err="1">
                <a:solidFill>
                  <a:schemeClr val="accent6"/>
                </a:solidFill>
              </a:rPr>
              <a:t>În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completare</a:t>
            </a:r>
            <a:r>
              <a:rPr lang="en-US" sz="2400" dirty="0">
                <a:solidFill>
                  <a:schemeClr val="accent6"/>
                </a:solidFill>
              </a:rPr>
              <a:t>, se </a:t>
            </a:r>
            <a:r>
              <a:rPr lang="en-US" sz="2400" dirty="0" err="1">
                <a:solidFill>
                  <a:schemeClr val="accent6"/>
                </a:solidFill>
              </a:rPr>
              <a:t>dezvoltă</a:t>
            </a:r>
            <a:r>
              <a:rPr lang="en-US" sz="2400" dirty="0">
                <a:solidFill>
                  <a:schemeClr val="accent6"/>
                </a:solidFill>
              </a:rPr>
              <a:t> o </a:t>
            </a:r>
            <a:r>
              <a:rPr lang="en-US" sz="2400" dirty="0" err="1">
                <a:solidFill>
                  <a:schemeClr val="accent6"/>
                </a:solidFill>
              </a:rPr>
              <a:t>aplicație</a:t>
            </a:r>
            <a:r>
              <a:rPr lang="en-US" sz="2400" dirty="0">
                <a:solidFill>
                  <a:schemeClr val="accent6"/>
                </a:solidFill>
              </a:rPr>
              <a:t> web </a:t>
            </a:r>
            <a:r>
              <a:rPr lang="en-US" sz="2400" dirty="0" err="1">
                <a:solidFill>
                  <a:schemeClr val="accent6"/>
                </a:solidFill>
              </a:rPr>
              <a:t>destinată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utilizatorilor</a:t>
            </a:r>
            <a:r>
              <a:rPr lang="en-US" sz="2400" dirty="0">
                <a:solidFill>
                  <a:schemeClr val="accent6"/>
                </a:solidFill>
              </a:rPr>
              <a:t> pentru </a:t>
            </a:r>
            <a:r>
              <a:rPr lang="en-US" sz="2400" dirty="0" err="1">
                <a:solidFill>
                  <a:schemeClr val="accent6"/>
                </a:solidFill>
              </a:rPr>
              <a:t>afișarea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locației</a:t>
            </a:r>
            <a:r>
              <a:rPr lang="en-US" sz="2400" dirty="0">
                <a:solidFill>
                  <a:schemeClr val="accent6"/>
                </a:solidFill>
              </a:rPr>
              <a:t> pe </a:t>
            </a:r>
            <a:r>
              <a:rPr lang="en-US" sz="2400" dirty="0" err="1">
                <a:solidFill>
                  <a:schemeClr val="accent6"/>
                </a:solidFill>
              </a:rPr>
              <a:t>hartă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și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administrarea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mai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multor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dispozitive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 err="1">
                <a:solidFill>
                  <a:schemeClr val="accent6"/>
                </a:solidFill>
              </a:rPr>
              <a:t>asociate</a:t>
            </a:r>
            <a:r>
              <a:rPr lang="en-US" sz="2400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641FA6B-FFA3-40FD-570A-329D2CA5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 err="1"/>
              <a:t>Motivatia</a:t>
            </a:r>
            <a:r>
              <a:rPr lang="en-US" dirty="0"/>
              <a:t> ALEGERII TEMEI</a:t>
            </a:r>
          </a:p>
        </p:txBody>
      </p:sp>
      <p:pic>
        <p:nvPicPr>
          <p:cNvPr id="8" name="Picture Placeholder 7" descr="A dog looking at a map&#10;&#10;AI-generated content may be incorrect.">
            <a:extLst>
              <a:ext uri="{FF2B5EF4-FFF2-40B4-BE49-F238E27FC236}">
                <a16:creationId xmlns:a16="http://schemas.microsoft.com/office/drawing/2014/main" id="{E0F1420C-9A57-1E97-BAFE-2DF63B7F6D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711" r="1" b="7674"/>
          <a:stretch/>
        </p:blipFill>
        <p:spPr>
          <a:xfrm>
            <a:off x="1029454" y="2185606"/>
            <a:ext cx="5829147" cy="3961593"/>
          </a:xfrm>
          <a:noFill/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3F9453E0-7B11-9210-C639-E201F36E1C84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7415830" y="1992248"/>
            <a:ext cx="3923696" cy="42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Pentru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crește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siguranța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animalelor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companie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prin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localizare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în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timp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real.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Pentru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folosi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tehnologii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moderne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precum GPS, IoT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aplicații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web.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Pentru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aplica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practic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cunoștințele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tehnice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dobândite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în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facultate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58" y="1966452"/>
            <a:ext cx="7043617" cy="319395"/>
          </a:xfrm>
        </p:spPr>
        <p:txBody>
          <a:bodyPr/>
          <a:lstStyle/>
          <a:p>
            <a:r>
              <a:rPr lang="en-US" dirty="0"/>
              <a:t>State-of-the-art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monitorizării</a:t>
            </a:r>
            <a:r>
              <a:rPr lang="en-US" dirty="0"/>
              <a:t> </a:t>
            </a:r>
            <a:r>
              <a:rPr lang="en-US" dirty="0" err="1"/>
              <a:t>locației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IoT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10116" y="2285847"/>
            <a:ext cx="8357419" cy="4149427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Monitorizarea</a:t>
            </a:r>
            <a:r>
              <a:rPr lang="en-US" sz="2000" dirty="0"/>
              <a:t> </a:t>
            </a:r>
            <a:r>
              <a:rPr lang="en-US" sz="2000" dirty="0" err="1"/>
              <a:t>locației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intermediul</a:t>
            </a:r>
            <a:r>
              <a:rPr lang="en-US" sz="2000" dirty="0"/>
              <a:t> </a:t>
            </a:r>
            <a:r>
              <a:rPr lang="en-US" sz="2000" dirty="0" err="1"/>
              <a:t>tehnologiilor</a:t>
            </a:r>
            <a:r>
              <a:rPr lang="en-US" sz="2000" dirty="0"/>
              <a:t> IoT (Internet of Things) a </a:t>
            </a:r>
            <a:r>
              <a:rPr lang="en-US" sz="2000" dirty="0" err="1"/>
              <a:t>cunoscut</a:t>
            </a:r>
            <a:r>
              <a:rPr lang="en-US" sz="2000" dirty="0"/>
              <a:t> o </a:t>
            </a:r>
            <a:r>
              <a:rPr lang="en-US" sz="2000" dirty="0" err="1"/>
              <a:t>evoluție</a:t>
            </a:r>
            <a:r>
              <a:rPr lang="en-US" sz="2000" dirty="0"/>
              <a:t> </a:t>
            </a:r>
            <a:r>
              <a:rPr lang="en-US" sz="2000" dirty="0" err="1"/>
              <a:t>semnificativă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ultimii</a:t>
            </a:r>
            <a:r>
              <a:rPr lang="en-US" sz="2000" dirty="0"/>
              <a:t> ani, </a:t>
            </a:r>
            <a:r>
              <a:rPr lang="en-US" sz="2000" dirty="0" err="1"/>
              <a:t>fiind</a:t>
            </a:r>
            <a:r>
              <a:rPr lang="en-US" sz="2000" dirty="0"/>
              <a:t> </a:t>
            </a:r>
            <a:r>
              <a:rPr lang="en-US" sz="2000" dirty="0" err="1"/>
              <a:t>utilizată</a:t>
            </a:r>
            <a:r>
              <a:rPr lang="en-US" sz="2000" dirty="0"/>
              <a:t> </a:t>
            </a:r>
            <a:r>
              <a:rPr lang="en-US" sz="2000" dirty="0" err="1"/>
              <a:t>într</a:t>
            </a:r>
            <a:r>
              <a:rPr lang="en-US" sz="2000" dirty="0"/>
              <a:t>-o </a:t>
            </a:r>
            <a:r>
              <a:rPr lang="en-US" sz="2000" dirty="0" err="1"/>
              <a:t>gamă</a:t>
            </a:r>
            <a:r>
              <a:rPr lang="en-US" sz="2000" dirty="0"/>
              <a:t> </a:t>
            </a:r>
            <a:r>
              <a:rPr lang="en-US" sz="2000" dirty="0" err="1"/>
              <a:t>largă</a:t>
            </a:r>
            <a:r>
              <a:rPr lang="en-US" sz="2000" dirty="0"/>
              <a:t> de </a:t>
            </a:r>
            <a:r>
              <a:rPr lang="en-US" sz="2000" dirty="0" err="1"/>
              <a:t>aplicații</a:t>
            </a:r>
            <a:r>
              <a:rPr lang="en-US" sz="2000" dirty="0"/>
              <a:t> – de la </a:t>
            </a:r>
            <a:r>
              <a:rPr lang="en-US" sz="2000" dirty="0" err="1"/>
              <a:t>logistică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transporturi</a:t>
            </a:r>
            <a:r>
              <a:rPr lang="en-US" sz="2000" dirty="0"/>
              <a:t> </a:t>
            </a:r>
            <a:r>
              <a:rPr lang="en-US" sz="2000" dirty="0" err="1"/>
              <a:t>până</a:t>
            </a:r>
            <a:r>
              <a:rPr lang="en-US" sz="2000" dirty="0"/>
              <a:t> la </a:t>
            </a:r>
            <a:r>
              <a:rPr lang="en-US" sz="2000" dirty="0" err="1"/>
              <a:t>siguranța</a:t>
            </a:r>
            <a:r>
              <a:rPr lang="en-US" sz="2000" dirty="0"/>
              <a:t> </a:t>
            </a:r>
            <a:r>
              <a:rPr lang="en-US" sz="2000" dirty="0" err="1"/>
              <a:t>persoanelor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a </a:t>
            </a:r>
            <a:r>
              <a:rPr lang="en-US" sz="2000" dirty="0" err="1"/>
              <a:t>animalelor</a:t>
            </a:r>
            <a:r>
              <a:rPr lang="en-US" sz="2000" dirty="0"/>
              <a:t> de </a:t>
            </a:r>
            <a:r>
              <a:rPr lang="en-US" sz="2000" dirty="0" err="1"/>
              <a:t>companie</a:t>
            </a:r>
            <a:r>
              <a:rPr lang="en-US" sz="2000" dirty="0"/>
              <a:t>. </a:t>
            </a:r>
            <a:r>
              <a:rPr lang="en-US" sz="2000" dirty="0" err="1"/>
              <a:t>Integrarea</a:t>
            </a:r>
            <a:r>
              <a:rPr lang="en-US" sz="2000" dirty="0"/>
              <a:t> </a:t>
            </a:r>
            <a:r>
              <a:rPr lang="en-US" sz="2000" dirty="0" err="1"/>
              <a:t>modulelor</a:t>
            </a:r>
            <a:r>
              <a:rPr lang="en-US" sz="2000" dirty="0"/>
              <a:t> GPS cu </a:t>
            </a:r>
            <a:r>
              <a:rPr lang="en-US" sz="2000" dirty="0" err="1"/>
              <a:t>microcontrolere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conectivitate</a:t>
            </a:r>
            <a:r>
              <a:rPr lang="en-US" sz="2000" dirty="0"/>
              <a:t> wireless (precum Wi-Fi, GSM, LTE </a:t>
            </a:r>
            <a:r>
              <a:rPr lang="en-US" sz="2000" dirty="0" err="1"/>
              <a:t>sau</a:t>
            </a:r>
            <a:r>
              <a:rPr lang="en-US" sz="2000" dirty="0"/>
              <a:t> LoRa)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dezvoltarea</a:t>
            </a:r>
            <a:r>
              <a:rPr lang="en-US" sz="2000" dirty="0"/>
              <a:t> de </a:t>
            </a:r>
            <a:r>
              <a:rPr lang="en-US" sz="2000" dirty="0" err="1"/>
              <a:t>soluții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, </a:t>
            </a:r>
            <a:r>
              <a:rPr lang="en-US" sz="2000" dirty="0" err="1"/>
              <a:t>portabile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energetic.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Platforme</a:t>
            </a:r>
            <a:r>
              <a:rPr lang="en-US" sz="2000" dirty="0"/>
              <a:t> precum Firebase, AWS IoT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ThingSpeak</a:t>
            </a:r>
            <a:r>
              <a:rPr lang="en-US" sz="2000" dirty="0"/>
              <a:t> sunt </a:t>
            </a:r>
            <a:r>
              <a:rPr lang="en-US" sz="2000" dirty="0" err="1"/>
              <a:t>frecvent</a:t>
            </a:r>
            <a:r>
              <a:rPr lang="en-US" sz="2000" dirty="0"/>
              <a:t> </a:t>
            </a:r>
            <a:r>
              <a:rPr lang="en-US" sz="2000" dirty="0" err="1"/>
              <a:t>utilizate</a:t>
            </a:r>
            <a:r>
              <a:rPr lang="en-US" sz="2000" dirty="0"/>
              <a:t> pentru </a:t>
            </a:r>
            <a:r>
              <a:rPr lang="en-US" sz="2000" dirty="0" err="1"/>
              <a:t>stocarea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vizualizarea</a:t>
            </a:r>
            <a:r>
              <a:rPr lang="en-US" sz="2000" dirty="0"/>
              <a:t> </a:t>
            </a:r>
            <a:r>
              <a:rPr lang="en-US" sz="2000" dirty="0" err="1"/>
              <a:t>datelor</a:t>
            </a:r>
            <a:r>
              <a:rPr lang="en-US" sz="2000" dirty="0"/>
              <a:t> </a:t>
            </a:r>
            <a:r>
              <a:rPr lang="en-US" sz="2000" dirty="0" err="1"/>
              <a:t>transmise</a:t>
            </a:r>
            <a:r>
              <a:rPr lang="en-US" sz="2000" dirty="0"/>
              <a:t>. </a:t>
            </a:r>
            <a:r>
              <a:rPr lang="en-US" sz="2000" dirty="0" err="1"/>
              <a:t>Protocolul</a:t>
            </a:r>
            <a:r>
              <a:rPr lang="en-US" sz="2000" dirty="0"/>
              <a:t> MQTT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preferat</a:t>
            </a:r>
            <a:r>
              <a:rPr lang="en-US" sz="2000" dirty="0"/>
              <a:t> pentru </a:t>
            </a:r>
            <a:r>
              <a:rPr lang="en-US" sz="2000" dirty="0" err="1"/>
              <a:t>comunicare</a:t>
            </a:r>
            <a:r>
              <a:rPr lang="en-US" sz="2000" dirty="0"/>
              <a:t> </a:t>
            </a:r>
            <a:r>
              <a:rPr lang="en-US" sz="2000" dirty="0" err="1"/>
              <a:t>rapidă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eficientă</a:t>
            </a:r>
            <a:r>
              <a:rPr lang="en-US" sz="2000" dirty="0"/>
              <a:t> </a:t>
            </a:r>
            <a:r>
              <a:rPr lang="en-US" sz="2000" dirty="0" err="1"/>
              <a:t>între</a:t>
            </a:r>
            <a:r>
              <a:rPr lang="en-US" sz="2000" dirty="0"/>
              <a:t> </a:t>
            </a:r>
            <a:r>
              <a:rPr lang="en-US" sz="2000" dirty="0" err="1"/>
              <a:t>dispozitive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servere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-199946"/>
            <a:ext cx="7965461" cy="994164"/>
          </a:xfrm>
        </p:spPr>
        <p:txBody>
          <a:bodyPr/>
          <a:lstStyle/>
          <a:p>
            <a:r>
              <a:rPr lang="en-US" dirty="0" err="1"/>
              <a:t>Tehnologia</a:t>
            </a:r>
            <a:r>
              <a:rPr lang="en-US" dirty="0"/>
              <a:t> </a:t>
            </a:r>
            <a:r>
              <a:rPr lang="en-US" dirty="0" err="1"/>
              <a:t>folosita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965C34-15CF-2019-EF13-13F481B7145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788416" y="701037"/>
            <a:ext cx="8103815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Hardware IoT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Modul GPS pentru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localizarea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geografică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animalului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Microcontroler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(ESP32) pentru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procesare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conectivitate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Modul GSM/GPRS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sau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Wi-Fi pentru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transmiterea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datelor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către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server ( SIM800L).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 dirty="0"/>
              <a:t>Software </a:t>
            </a:r>
            <a:r>
              <a:rPr lang="en-US" sz="2000" b="1" dirty="0" err="1"/>
              <a:t>și</a:t>
            </a:r>
            <a:r>
              <a:rPr lang="en-US" sz="2000" b="1" dirty="0"/>
              <a:t> Cloud</a:t>
            </a:r>
            <a:endParaRPr lang="en-US" sz="2000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Fire Base Authentication/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Firestore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/Storage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 err="1"/>
              <a:t>Comunicare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si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protocoale</a:t>
            </a:r>
            <a:endParaRPr lang="en-US" altLang="en-US" sz="2000" b="1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HTTP (</a:t>
            </a:r>
            <a:r>
              <a:rPr lang="en-US" altLang="en-US" sz="2000" dirty="0" err="1"/>
              <a:t>prin</a:t>
            </a:r>
            <a:r>
              <a:rPr lang="en-US" altLang="en-US" sz="2000" dirty="0"/>
              <a:t> API-</a:t>
            </a:r>
            <a:r>
              <a:rPr lang="en-US" altLang="en-US" sz="2000" dirty="0" err="1"/>
              <a:t>uri</a:t>
            </a:r>
            <a:r>
              <a:rPr lang="en-US" altLang="en-US" sz="2000" dirty="0"/>
              <a:t> REST) </a:t>
            </a:r>
            <a:r>
              <a:rPr lang="en-US" altLang="en-US" sz="2000" dirty="0" err="1"/>
              <a:t>sau</a:t>
            </a:r>
            <a:r>
              <a:rPr lang="en-US" altLang="en-US" sz="2000" dirty="0"/>
              <a:t> MQTT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 err="1"/>
              <a:t>Aplicatie</a:t>
            </a:r>
            <a:r>
              <a:rPr lang="en-US" altLang="en-US" sz="2000" b="1" dirty="0"/>
              <a:t> Web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React + Vite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Alte </a:t>
            </a:r>
            <a:r>
              <a:rPr lang="en-US" altLang="en-US" sz="2000" dirty="0" err="1"/>
              <a:t>tehnologii</a:t>
            </a:r>
            <a:r>
              <a:rPr lang="en-US" altLang="en-US" sz="2000" dirty="0"/>
              <a:t> ( JSON, Node-RED)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ircuit board with wires connected to it">
            <a:extLst>
              <a:ext uri="{FF2B5EF4-FFF2-40B4-BE49-F238E27FC236}">
                <a16:creationId xmlns:a16="http://schemas.microsoft.com/office/drawing/2014/main" id="{5A53E43E-8903-0659-1D8D-762EF780D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36" y="3814916"/>
            <a:ext cx="3661264" cy="27459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pPr>
              <a:buNone/>
            </a:pPr>
            <a:r>
              <a:rPr lang="en-US" b="1" dirty="0"/>
              <a:t>Componenta Software – Backend &amp; Frontend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68595" y="2281084"/>
            <a:ext cx="8190270" cy="416575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/>
              <a:t>Backend (Cloud)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Firebase </a:t>
            </a:r>
            <a:r>
              <a:rPr lang="en-US" b="1" dirty="0" err="1"/>
              <a:t>Firestore</a:t>
            </a:r>
            <a:r>
              <a:rPr lang="en-US" dirty="0"/>
              <a:t> – </a:t>
            </a:r>
            <a:r>
              <a:rPr lang="en-US" dirty="0" err="1"/>
              <a:t>stochează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poziție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asociate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dispozitiv</a:t>
            </a:r>
            <a:r>
              <a:rPr lang="en-US" dirty="0"/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Firebase Authentication</a:t>
            </a:r>
            <a:r>
              <a:rPr lang="en-US" dirty="0"/>
              <a:t> – </a:t>
            </a:r>
            <a:r>
              <a:rPr lang="en-US" dirty="0" err="1"/>
              <a:t>gestionează</a:t>
            </a:r>
            <a:r>
              <a:rPr lang="en-US" dirty="0"/>
              <a:t> </a:t>
            </a:r>
            <a:r>
              <a:rPr lang="en-US" dirty="0" err="1"/>
              <a:t>autentificarea</a:t>
            </a:r>
            <a:r>
              <a:rPr lang="en-US" dirty="0"/>
              <a:t> </a:t>
            </a:r>
            <a:r>
              <a:rPr lang="en-US" dirty="0" err="1"/>
              <a:t>utilizatorilor</a:t>
            </a:r>
            <a:r>
              <a:rPr lang="en-US" dirty="0"/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Firebase Functions</a:t>
            </a:r>
            <a:r>
              <a:rPr lang="en-US" dirty="0"/>
              <a:t>  – pentru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, </a:t>
            </a:r>
            <a:r>
              <a:rPr lang="en-US" dirty="0" err="1"/>
              <a:t>validări</a:t>
            </a:r>
            <a:r>
              <a:rPr lang="en-US" dirty="0"/>
              <a:t>, </a:t>
            </a:r>
            <a:r>
              <a:rPr lang="en-US" dirty="0" err="1"/>
              <a:t>alerte</a:t>
            </a:r>
            <a:r>
              <a:rPr lang="en-US" dirty="0"/>
              <a:t> etc.</a:t>
            </a:r>
          </a:p>
          <a:p>
            <a:pPr algn="just">
              <a:buNone/>
            </a:pPr>
            <a:r>
              <a:rPr lang="en-US" b="1" dirty="0"/>
              <a:t>Frontend (</a:t>
            </a:r>
            <a:r>
              <a:rPr lang="en-US" b="1" dirty="0" err="1"/>
              <a:t>Aplicația</a:t>
            </a:r>
            <a:r>
              <a:rPr lang="en-US" b="1" dirty="0"/>
              <a:t> web)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React + Vite</a:t>
            </a:r>
            <a:r>
              <a:rPr lang="en-US" dirty="0"/>
              <a:t> – </a:t>
            </a:r>
            <a:r>
              <a:rPr lang="en-US" dirty="0" err="1"/>
              <a:t>aplicație</a:t>
            </a:r>
            <a:r>
              <a:rPr lang="en-US" dirty="0"/>
              <a:t> web </a:t>
            </a:r>
            <a:r>
              <a:rPr lang="en-US" dirty="0" err="1"/>
              <a:t>rapidă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responsive;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Map API (Google Maps)</a:t>
            </a:r>
            <a:r>
              <a:rPr lang="en-US" dirty="0"/>
              <a:t> –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locația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 pe </a:t>
            </a:r>
            <a:r>
              <a:rPr lang="en-US" dirty="0" err="1"/>
              <a:t>hartă</a:t>
            </a:r>
            <a:r>
              <a:rPr lang="en-US" dirty="0"/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Interfață</a:t>
            </a:r>
            <a:r>
              <a:rPr lang="en-US" b="1" dirty="0"/>
              <a:t> de </a:t>
            </a:r>
            <a:r>
              <a:rPr lang="en-US" b="1" dirty="0" err="1"/>
              <a:t>utilizator</a:t>
            </a:r>
            <a:r>
              <a:rPr lang="en-US" dirty="0"/>
              <a:t> –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logarea</a:t>
            </a:r>
            <a:r>
              <a:rPr lang="en-US" dirty="0"/>
              <a:t>,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dispozitivului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vizualizarea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1" name="Picture Placeholder 10" descr="A dog licking a bottle&#10;&#10;AI-generated content may be incorrect.">
            <a:extLst>
              <a:ext uri="{FF2B5EF4-FFF2-40B4-BE49-F238E27FC236}">
                <a16:creationId xmlns:a16="http://schemas.microsoft.com/office/drawing/2014/main" id="{3A0D0D2E-F121-FBB7-FB6D-772A474F76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6428" r="64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4" y="186813"/>
            <a:ext cx="8266624" cy="741875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web </a:t>
            </a:r>
            <a:r>
              <a:rPr lang="en-US" dirty="0" err="1"/>
              <a:t>prototip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9F03121-D8A2-469E-CBE8-D3427EE2E23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491614" y="1202343"/>
            <a:ext cx="11096241" cy="512811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DC47-1E2E-89DC-CD55-CC09AA75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Organizare</a:t>
            </a:r>
            <a:r>
              <a:rPr lang="en-US" dirty="0"/>
              <a:t> task-</a:t>
            </a:r>
            <a:r>
              <a:rPr lang="en-US" dirty="0" err="1"/>
              <a:t>urilor</a:t>
            </a:r>
            <a:r>
              <a:rPr lang="en-US" dirty="0"/>
              <a:t> in </a:t>
            </a:r>
            <a:r>
              <a:rPr lang="en-US" dirty="0" err="1"/>
              <a:t>jira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3A6444-6690-F452-0B4F-C6C72BB9E90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609509" y="2316163"/>
            <a:ext cx="8972981" cy="39481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7498E-0704-F127-059D-9374407C8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1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 err="1"/>
              <a:t>Concluzie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009281" cy="37042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 err="1"/>
              <a:t>Proiectul</a:t>
            </a:r>
            <a:r>
              <a:rPr lang="en-US" sz="2000" dirty="0"/>
              <a:t> a </a:t>
            </a:r>
            <a:r>
              <a:rPr lang="en-US" sz="2000" dirty="0" err="1"/>
              <a:t>reușit</a:t>
            </a:r>
            <a:r>
              <a:rPr lang="en-US" sz="2000" dirty="0"/>
              <a:t> </a:t>
            </a:r>
            <a:r>
              <a:rPr lang="en-US" sz="2000" dirty="0" err="1"/>
              <a:t>să</a:t>
            </a:r>
            <a:r>
              <a:rPr lang="en-US" sz="2000" dirty="0"/>
              <a:t> combine </a:t>
            </a:r>
            <a:r>
              <a:rPr lang="en-US" sz="2000" dirty="0" err="1"/>
              <a:t>componente</a:t>
            </a:r>
            <a:r>
              <a:rPr lang="en-US" sz="2000" dirty="0"/>
              <a:t> hardware </a:t>
            </a:r>
            <a:r>
              <a:rPr lang="en-US" sz="2000" dirty="0" err="1"/>
              <a:t>și</a:t>
            </a:r>
            <a:r>
              <a:rPr lang="en-US" sz="2000" dirty="0"/>
              <a:t> software </a:t>
            </a:r>
            <a:r>
              <a:rPr lang="en-US" sz="2000" dirty="0" err="1"/>
              <a:t>într</a:t>
            </a:r>
            <a:r>
              <a:rPr lang="en-US" sz="2000" dirty="0"/>
              <a:t>-un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funcțional</a:t>
            </a:r>
            <a:r>
              <a:rPr lang="en-US" sz="2000" dirty="0"/>
              <a:t> de </a:t>
            </a:r>
            <a:r>
              <a:rPr lang="en-US" sz="2000" dirty="0" err="1"/>
              <a:t>urmărire</a:t>
            </a:r>
            <a:r>
              <a:rPr lang="en-US" sz="2000" dirty="0"/>
              <a:t> GPS, </a:t>
            </a:r>
            <a:r>
              <a:rPr lang="en-US" sz="2000" dirty="0" err="1"/>
              <a:t>evidențiind</a:t>
            </a:r>
            <a:r>
              <a:rPr lang="en-US" sz="2000" dirty="0"/>
              <a:t> </a:t>
            </a:r>
            <a:r>
              <a:rPr lang="en-US" sz="2000" dirty="0" err="1"/>
              <a:t>utilitatea</a:t>
            </a:r>
            <a:r>
              <a:rPr lang="en-US" sz="2000" dirty="0"/>
              <a:t> IoT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viața</a:t>
            </a:r>
            <a:r>
              <a:rPr lang="en-US" sz="2000" dirty="0"/>
              <a:t> de zi cu zi. </a:t>
            </a:r>
            <a:r>
              <a:rPr lang="en-US" sz="2000" dirty="0" err="1"/>
              <a:t>Soluția</a:t>
            </a:r>
            <a:r>
              <a:rPr lang="en-US" sz="2000" dirty="0"/>
              <a:t> </a:t>
            </a:r>
            <a:r>
              <a:rPr lang="en-US" sz="2000" dirty="0" err="1"/>
              <a:t>oferă</a:t>
            </a:r>
            <a:r>
              <a:rPr lang="en-US" sz="2000" dirty="0"/>
              <a:t> o </a:t>
            </a:r>
            <a:r>
              <a:rPr lang="en-US" sz="2000" dirty="0" err="1"/>
              <a:t>metodă</a:t>
            </a:r>
            <a:r>
              <a:rPr lang="en-US" sz="2000" dirty="0"/>
              <a:t> </a:t>
            </a:r>
            <a:r>
              <a:rPr lang="en-US" sz="2000" dirty="0" err="1"/>
              <a:t>modernă</a:t>
            </a:r>
            <a:r>
              <a:rPr lang="en-US" sz="2000" dirty="0"/>
              <a:t> de </a:t>
            </a:r>
            <a:r>
              <a:rPr lang="en-US" sz="2000" dirty="0" err="1"/>
              <a:t>localizare</a:t>
            </a:r>
            <a:r>
              <a:rPr lang="en-US" sz="2000" dirty="0"/>
              <a:t> a </a:t>
            </a:r>
            <a:r>
              <a:rPr lang="en-US" sz="2000" dirty="0" err="1"/>
              <a:t>animalelor</a:t>
            </a:r>
            <a:r>
              <a:rPr lang="en-US" sz="2000" dirty="0"/>
              <a:t> de </a:t>
            </a:r>
            <a:r>
              <a:rPr lang="en-US" sz="2000" dirty="0" err="1"/>
              <a:t>companie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poate fi </a:t>
            </a:r>
            <a:r>
              <a:rPr lang="en-US" sz="2000" dirty="0" err="1"/>
              <a:t>extinsă</a:t>
            </a:r>
            <a:r>
              <a:rPr lang="en-US" sz="2000" dirty="0"/>
              <a:t> cu </a:t>
            </a:r>
            <a:r>
              <a:rPr lang="en-US" sz="2000" dirty="0" err="1"/>
              <a:t>ușurință</a:t>
            </a:r>
            <a:r>
              <a:rPr lang="en-US" sz="2000" dirty="0"/>
              <a:t> pentru </a:t>
            </a:r>
            <a:r>
              <a:rPr lang="en-US" sz="2000" dirty="0" err="1"/>
              <a:t>alte</a:t>
            </a:r>
            <a:r>
              <a:rPr lang="en-US" sz="2000" dirty="0"/>
              <a:t> </a:t>
            </a:r>
            <a:r>
              <a:rPr lang="en-US" sz="2000" dirty="0" err="1"/>
              <a:t>aplicații</a:t>
            </a:r>
            <a:r>
              <a:rPr lang="en-US" sz="2000" dirty="0"/>
              <a:t> </a:t>
            </a:r>
            <a:r>
              <a:rPr lang="en-US" sz="2000" dirty="0" err="1"/>
              <a:t>similare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6921909" cy="3476412"/>
          </a:xfrm>
        </p:spPr>
        <p:txBody>
          <a:bodyPr/>
          <a:lstStyle/>
          <a:p>
            <a:r>
              <a:rPr lang="en-US" sz="5400" dirty="0"/>
              <a:t>Thank </a:t>
            </a:r>
            <a:br>
              <a:rPr lang="en-US" sz="5400" dirty="0"/>
            </a:br>
            <a:r>
              <a:rPr lang="en-US" sz="5400" dirty="0"/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{DDAB4963-D1C0-4668-9A36-878159008C74}tf78438558_win32</Template>
  <TotalTime>101</TotalTime>
  <Words>452</Words>
  <Application>Microsoft Office PowerPoint</Application>
  <PresentationFormat>Widescreen</PresentationFormat>
  <Paragraphs>47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Dispozitiv IoT pentru urmărirea poziției animalelor de companie</vt:lpstr>
      <vt:lpstr>Cuprins</vt:lpstr>
      <vt:lpstr>SCOPUL LUCRARII</vt:lpstr>
      <vt:lpstr>Motivatia ALEGERII TEMEI</vt:lpstr>
      <vt:lpstr>State-of-the-art în domeniul monitorizării locației folosind IoT</vt:lpstr>
      <vt:lpstr>Tehnologia folosita</vt:lpstr>
      <vt:lpstr>Componenta Software – Backend &amp; Frontend</vt:lpstr>
      <vt:lpstr>Aplicatie web prototip</vt:lpstr>
      <vt:lpstr>Organizare task-urilor in jira</vt:lpstr>
      <vt:lpstr>Concluzie</vt:lpstr>
      <vt:lpstr>Thank 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Marina MOROIANU</dc:creator>
  <cp:lastModifiedBy>Marina MOROIANU</cp:lastModifiedBy>
  <cp:revision>6</cp:revision>
  <dcterms:created xsi:type="dcterms:W3CDTF">2025-04-29T22:53:28Z</dcterms:created>
  <dcterms:modified xsi:type="dcterms:W3CDTF">2025-04-30T09:52:50Z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